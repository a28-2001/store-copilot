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 year</c:v>
                </c:pt>
              </c:strCache>
            </c:strRef>
          </c:tx>
          <c:spPr>
            <a:solidFill>
              <a:srgbClr val="2E845A"/>
            </a:solidFill>
          </c:spPr>
          <c:cat>
            <c:strRef>
              <c:f>Sheet1!$A$2:$A$4</c:f>
              <c:strCache>
                <c:ptCount val="3"/>
                <c:pt idx="0">
                  <c:v>Waste above the 3% target</c:v>
                </c:pt>
                <c:pt idx="1">
                  <c:v>Prices keyed below cost</c:v>
                </c:pt>
                <c:pt idx="2">
                  <c:v>Cost increases not passed 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142715</c:v>
                </c:pt>
                <c:pt idx="1">
                  <c:v>22891</c:v>
                </c:pt>
                <c:pt idx="2">
                  <c:v>11336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Days of stock on hand</c:v>
                </c:pt>
              </c:strCache>
            </c:strRef>
          </c:tx>
          <c:spPr>
            <a:solidFill>
              <a:srgbClr val="2E845A"/>
            </a:solidFill>
          </c:spPr>
          <c:cat>
            <c:strRef>
              <c:f>Sheet1!$A$2:$A$4</c:f>
              <c:strCache>
                <c:ptCount val="3"/>
                <c:pt idx="0">
                  <c:v>Juices and drinks</c:v>
                </c:pt>
                <c:pt idx="1">
                  <c:v>Meat &amp; Seafood</c:v>
                </c:pt>
                <c:pt idx="2">
                  <c:v>Produce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15.2</c:v>
                </c:pt>
                <c:pt idx="1">
                  <c:v>18.2</c:v>
                </c:pt>
                <c:pt idx="2">
                  <c:v>12.3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Shelf life</c:v>
                </c:pt>
              </c:strCache>
            </c:strRef>
          </c:tx>
          <c:spPr>
            <a:solidFill>
              <a:srgbClr val="C9C4BA"/>
            </a:solidFill>
          </c:spPr>
          <c:cat>
            <c:strRef>
              <c:f>Sheet1!$A$2:$A$4</c:f>
              <c:strCache>
                <c:ptCount val="3"/>
                <c:pt idx="0">
                  <c:v>Juices and drinks</c:v>
                </c:pt>
                <c:pt idx="1">
                  <c:v>Meat &amp; Seafood</c:v>
                </c:pt>
                <c:pt idx="2">
                  <c:v>Produce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</c:v>
                </c:pt>
                <c:pt idx="1">
                  <c:v>5.0</c:v>
                </c:pt>
                <c:pt idx="2">
                  <c:v>7.0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E845A"/>
                </a:solidFill>
                <a:latin typeface="Arial"/>
              </a:rPr>
              <a:t>BOARD PACK  ·  30 DAYS TO SEP 28,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1F3A2D"/>
                </a:solidFill>
                <a:latin typeface="Georgia"/>
              </a:rPr>
              <a:t>Sales grew 12%, all of it from the new store. Margin held; waste is the problem to 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E6A62"/>
                </a:solidFill>
                <a:latin typeface="Arial"/>
              </a:rPr>
              <a:t>Made-up data. Every number on this page is worked out two ways before it's printed. Built by planning/build_board_pack.py.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E6A62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624328" cy="1645920"/>
          </a:xfrm>
          <a:prstGeom prst="roundRect">
            <a:avLst>
              <a:gd name="adj" fmla="val 8000"/>
            </a:avLst>
          </a:prstGeom>
          <a:solidFill>
            <a:srgbClr val="EE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58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258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5E45"/>
                </a:solidFill>
                <a:latin typeface="Arial"/>
              </a:rPr>
              <a:t>$1.48M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258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Arial"/>
              </a:rPr>
              <a:t>+12% vs the 30 days before; flat at the 2 stores open both times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783080"/>
            <a:ext cx="2624328" cy="1645920"/>
          </a:xfrm>
          <a:prstGeom prst="roundRect">
            <a:avLst>
              <a:gd name="adj" fmla="val 8000"/>
            </a:avLst>
          </a:prstGeom>
          <a:solidFill>
            <a:srgbClr val="EE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920240"/>
            <a:ext cx="2258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240280"/>
            <a:ext cx="2258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5E45"/>
                </a:solidFill>
                <a:latin typeface="Arial"/>
              </a:rPr>
              <a:t>47.8%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880360"/>
            <a:ext cx="2258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Arial"/>
              </a:rPr>
              <a:t>-0.1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783080"/>
            <a:ext cx="2624328" cy="1645920"/>
          </a:xfrm>
          <a:prstGeom prst="roundRect">
            <a:avLst>
              <a:gd name="adj" fmla="val 8000"/>
            </a:avLst>
          </a:prstGeom>
          <a:solidFill>
            <a:srgbClr val="EE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920240"/>
            <a:ext cx="2258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Waste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240280"/>
            <a:ext cx="2258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5E45"/>
                </a:solidFill>
                <a:latin typeface="Arial"/>
              </a:rPr>
              <a:t>5.2%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880360"/>
            <a:ext cx="2258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Arial"/>
              </a:rPr>
              <a:t>of perishable cost; the target is under 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3" y="1783080"/>
            <a:ext cx="2624328" cy="1645920"/>
          </a:xfrm>
          <a:prstGeom prst="roundRect">
            <a:avLst>
              <a:gd name="adj" fmla="val 8000"/>
            </a:avLst>
          </a:prstGeom>
          <a:solidFill>
            <a:srgbClr val="EE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3" y="1920240"/>
            <a:ext cx="2258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3" y="2240280"/>
            <a:ext cx="22585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5E45"/>
                </a:solidFill>
                <a:latin typeface="Arial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3" y="2880360"/>
            <a:ext cx="2258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Arial"/>
              </a:rPr>
              <a:t>of transactions, up from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2D"/>
                </a:solidFill>
                <a:latin typeface="Arial"/>
              </a:rPr>
              <a:t>Three things to act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45A"/>
                </a:solidFill>
                <a:latin typeface="Arial"/>
              </a:rPr>
              <a:t>1.  </a:t>
            </a:r>
            <a:r>
              <a:rPr sz="1500" b="1">
                <a:solidFill>
                  <a:srgbClr val="1F3A2D"/>
                </a:solidFill>
                <a:latin typeface="Arial"/>
              </a:rPr>
              <a:t>Cut waste. </a:t>
            </a:r>
            <a:r>
              <a:rPr sz="1500" b="0">
                <a:solidFill>
                  <a:srgbClr val="1F3A2D"/>
                </a:solidFill>
                <a:latin typeface="Arial"/>
              </a:rPr>
              <a:t>It runs about $143K a year above target, and 59% of it is the cafe and hot bar.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45A"/>
                </a:solidFill>
                <a:latin typeface="Arial"/>
              </a:rPr>
              <a:t>2.  </a:t>
            </a:r>
            <a:r>
              <a:rPr sz="1500" b="1">
                <a:solidFill>
                  <a:srgbClr val="1F3A2D"/>
                </a:solidFill>
                <a:latin typeface="Arial"/>
              </a:rPr>
              <a:t>Fix pricing. </a:t>
            </a:r>
            <a:r>
              <a:rPr sz="1500" b="0">
                <a:solidFill>
                  <a:srgbClr val="1F3A2D"/>
                </a:solidFill>
                <a:latin typeface="Arial"/>
              </a:rPr>
              <a:t>5 prices are keyed below cost and 24 vendor cost increases were never passed on: $34K a year.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45A"/>
                </a:solidFill>
                <a:latin typeface="Arial"/>
              </a:rPr>
              <a:t>3.  </a:t>
            </a:r>
            <a:r>
              <a:rPr sz="1500" b="1">
                <a:solidFill>
                  <a:srgbClr val="1F3A2D"/>
                </a:solidFill>
                <a:latin typeface="Arial"/>
              </a:rPr>
              <a:t>Pull failed items. </a:t>
            </a:r>
            <a:r>
              <a:rPr sz="1500" b="0">
                <a:solidFill>
                  <a:srgbClr val="1F3A2D"/>
                </a:solidFill>
                <a:latin typeface="Arial"/>
              </a:rPr>
              <a:t>33 items that fail the clean standard are still selling, $174K a year of sales that put the brand at risk.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E845A"/>
                </a:solidFill>
                <a:latin typeface="Arial"/>
              </a:rPr>
              <a:t>BOARD PACK  ·  30 DAYS TO SEP 28,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1F3A2D"/>
                </a:solidFill>
                <a:latin typeface="Georgia"/>
              </a:rPr>
              <a:t>About $177K a year is leaking from margin, 1.0% of sales. Most of it is waste, and all of it can be fixed.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E6A62"/>
                </a:solidFill>
                <a:latin typeface="Arial"/>
              </a:rPr>
              <a:t>Made-up data. Every number on this page is worked out two ways before it's printed. Built by planning/build_board_pack.py.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E6A62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2"/>
                </a:solidFill>
                <a:latin typeface="Arial"/>
              </a:rPr>
              <a:t>What each leak costs a year, at today's pace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2011680"/>
          <a:ext cx="67665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691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2"/>
                </a:solidFill>
                <a:latin typeface="Arial"/>
              </a:rPr>
              <a:t>What fixes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5740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2D"/>
                </a:solidFill>
                <a:latin typeface="Arial"/>
              </a:rPr>
              <a:t>Waste: </a:t>
            </a:r>
            <a:r>
              <a:rPr sz="1400" b="0">
                <a:solidFill>
                  <a:srgbClr val="1F3A2D"/>
                </a:solidFill>
                <a:latin typeface="Arial"/>
              </a:rPr>
              <a:t>order perishables closer to their shelf life and make smaller hot bar batches (page 3).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2D"/>
                </a:solidFill>
                <a:latin typeface="Arial"/>
              </a:rPr>
              <a:t>Prices: </a:t>
            </a:r>
            <a:r>
              <a:rPr sz="1400" b="0">
                <a:solidFill>
                  <a:srgbClr val="1F3A2D"/>
                </a:solidFill>
                <a:latin typeface="Arial"/>
              </a:rPr>
              <a:t>correct the 5 keying errors today; the app still has the right prices.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2D"/>
                </a:solidFill>
                <a:latin typeface="Arial"/>
              </a:rPr>
              <a:t>Costs: </a:t>
            </a:r>
            <a:r>
              <a:rPr sz="1400" b="0">
                <a:solidFill>
                  <a:srgbClr val="1F3A2D"/>
                </a:solidFill>
                <a:latin typeface="Arial"/>
              </a:rPr>
              <a:t>reprice the 16 items under the margin floor, worth $15K a year at target margin.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EE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38928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2D"/>
                </a:solidFill>
                <a:latin typeface="Arial"/>
              </a:rPr>
              <a:t>Not in the total, but bigger: </a:t>
            </a:r>
            <a:r>
              <a:rPr sz="1400" b="0">
                <a:solidFill>
                  <a:srgbClr val="1F3A2D"/>
                </a:solidFill>
                <a:latin typeface="Arial"/>
              </a:rPr>
              <a:t>33 items that fail the clean standard still sell $174K a year. Pulling them costs those sales, and keeping them costs the brand.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E845A"/>
                </a:solidFill>
                <a:latin typeface="Arial"/>
              </a:rPr>
              <a:t>BOARD PACK  ·  30 DAYS TO SEP 28,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1F3A2D"/>
                </a:solidFill>
                <a:latin typeface="Georgia"/>
              </a:rPr>
              <a:t>Fresh food holds more stock than it can sell in time, and slow stock ties up $165K of cash.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E6A62"/>
                </a:solidFill>
                <a:latin typeface="Arial"/>
              </a:rPr>
              <a:t>Made-up data. Every number on this page is worked out two ways before it's printed. Built by planning/build_board_pack.py.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E6A62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A62"/>
                </a:solidFill>
                <a:latin typeface="Arial"/>
              </a:rPr>
              <a:t>Days of stock on hand vs average shelf life (days)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2011680"/>
          <a:ext cx="67665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783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Stock on 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574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E5E45"/>
                </a:solidFill>
                <a:latin typeface="Arial"/>
              </a:rPr>
              <a:t>$447K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6060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24 days of stock at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00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Slow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4747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E5E45"/>
                </a:solidFill>
                <a:latin typeface="Arial"/>
              </a:rPr>
              <a:t>$165K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023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37% of stock, mostly supplements and beauty &amp;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617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Cash freed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8920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E5E45"/>
                </a:solidFill>
                <a:latin typeface="Arial"/>
              </a:rPr>
              <a:t>$99K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440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Arial"/>
              </a:rPr>
              <a:t>if fresh food held no more than its shelf life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pack</dc:title>
  <dc:subject/>
  <dc:creator>Store Copilot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